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60" r:id="rId4"/>
    <p:sldId id="261" r:id="rId5"/>
    <p:sldId id="262" r:id="rId6"/>
    <p:sldId id="265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8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3E652-EA9D-4A56-B08A-9C8AB3670080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88F08-D2A6-4E0A-89DA-586AE5475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38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19EB-EEE1-666A-1755-F4A3C25DB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6A8788-A182-6A6B-2979-BAF0BAC91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24DD3-BC07-33F7-C2C0-0CD161799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9F13B-901B-173B-2F44-4DFC58AC7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DC52C-CAF2-CAD9-306E-C8F7735B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95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6AAB-3936-48CF-E207-0E2A100FF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0A11E-95E8-85E7-AC7A-EA2D7EE83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DBF98-1AFD-3413-AA3C-574414104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340CD-E709-FFDC-6759-2A52A58FA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ECF68-BA8F-57BB-6CE5-3A06618B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656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5211-D1A0-75AD-88E4-A769856A5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272F5-50F6-5BCF-C5B0-4736EC7AC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58740-6DDC-81CF-E43A-25A61B225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D89AD-C321-DBF3-3A9E-8F8773DB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BA8D2-B0BB-00E1-5AEE-F1BB31081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3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3496-BE6E-765E-9EA6-02884DED0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2B825-4BF2-47B5-3C45-7C4BCCCB1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39A84F-2B98-AA52-3CD7-02FD25D048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400539-0245-B783-1708-432AD1E4F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B499C-34B7-C3B2-FDBD-75F9CD32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55504-6E0B-CBC3-46A4-F821280F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72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C2C23-46E6-DC28-54F6-6C60425E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EA382-B561-8B6D-9DE3-335D2352A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966E56-066F-D210-BA20-EBEB5826EC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ECF3BC-B8E7-0396-D74C-8A948E4EB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AD3E9-E47F-272C-16DB-682614F60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F81DCB-FB37-A129-8926-09BD7DC83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2CA2C6-D166-7870-D1F3-EB17B7B5B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B3247D-21B9-6340-716C-0A8D70FF0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823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55773-10E2-85A3-F3F4-96C0A4FF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1CD07-F693-C798-1B9F-A148B0149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18230-F01E-6BC7-1F16-C5CA0EB29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3566D7-E94E-9FF9-FE6B-75D0549F1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25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D8AE87-DC0C-7787-9855-7B6D2937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299F93-91FF-9F79-E5A7-3DF00DD9A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0B19C3-D17B-F56A-2E2E-87FDF4E58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8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9BB5-F91B-7CA5-FC07-6058C135F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0B231-6D31-DB38-9D64-11B4D89C2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9E30FD-BDEE-8668-85C7-E81507B7A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A219B-61C8-A6C5-7E6A-77C29DC45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B6A45-D9F1-9655-198E-94CA4298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5FE43-1EC6-FF12-4B17-F2D1D652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35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8D197-8E00-F886-E62F-607F6F69A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FB6EE5-BDC8-6FD6-E965-5225863320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9F6A7-5515-4334-E77A-024FB5C80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533B8-5B24-351A-E672-6F17F72C4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A1D090-5EFA-2B71-F16E-99CD39F2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FFB0F-1A91-D385-038A-F1B5C21E6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58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BCE11-B9DB-9A04-3FE0-5EFB505B1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048E-D16F-2905-975B-8CC42AD49B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EB724-D700-ADDE-8AC5-67DCD5E4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87D0D-ADE4-BFCC-77F2-68F450DFA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BFE3B-4C25-52C9-A724-D500008D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525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077CCF-57B0-2EDC-58B9-FCC972DD1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4B8CFF-4164-596E-DC3A-64DA72660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2D22A-1B73-419F-1E05-8BC89032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0B764-308E-9B39-0391-682C679A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27E32-D820-8F96-68AB-0491BA0A5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42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6318EF-2AAA-C7C3-FF39-D89DBA847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1D56D-AD6E-F887-182D-CC927A4EC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FFC55-D32E-7A62-731E-C384488747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60ECD-69F6-476C-B957-EC5513EDBB3A}" type="datetimeFigureOut">
              <a:rPr lang="en-US" smtClean="0"/>
              <a:t>1/15/2025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4C074-C08A-F309-155C-8A2CC06AE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5D5B2-7314-D77E-3125-595C017058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E6CAB8-3BE2-42B3-9917-90F6472A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451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B1A8-03B4-C7AD-0809-70C19D9C31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5948" y="2064775"/>
            <a:ext cx="8342671" cy="1730478"/>
          </a:xfrm>
          <a:noFill/>
          <a:ln>
            <a:noFill/>
          </a:ln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spc="50" dirty="0">
                <a:ln w="9525" cmpd="sng">
                  <a:solidFill>
                    <a:schemeClr val="accent4">
                      <a:lumMod val="7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CIRCUIT RL-</a:t>
            </a:r>
            <a:br>
              <a:rPr lang="en-US" b="1" spc="50" dirty="0">
                <a:ln w="9525" cmpd="sng">
                  <a:solidFill>
                    <a:schemeClr val="accent4">
                      <a:lumMod val="7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</a:br>
            <a:r>
              <a:rPr lang="en-US" b="1" spc="50" dirty="0">
                <a:ln w="9525" cmpd="sng">
                  <a:solidFill>
                    <a:schemeClr val="accent4">
                      <a:lumMod val="75000"/>
                    </a:schemeClr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FILTRU TRECE JOS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455207-FA8B-9A80-BC6C-155A01BCC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09471" y="5489349"/>
            <a:ext cx="2674374" cy="1268362"/>
          </a:xfr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VARO GABRIELA-BIANCA</a:t>
            </a:r>
          </a:p>
          <a:p>
            <a:r>
              <a:rPr lang="en-US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GRUPA 2124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6B0127-076D-45E7-4081-6E13BFC6285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26" y="78658"/>
            <a:ext cx="1238951" cy="924232"/>
          </a:xfrm>
          <a:prstGeom prst="rect">
            <a:avLst/>
          </a:prstGeom>
          <a:solidFill>
            <a:schemeClr val="lt1"/>
          </a:solidFill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651541344"/>
      </p:ext>
    </p:extLst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9522D94C-E6AA-329D-CB5A-B92021DA147D}"/>
              </a:ext>
            </a:extLst>
          </p:cNvPr>
          <p:cNvSpPr txBox="1"/>
          <p:nvPr/>
        </p:nvSpPr>
        <p:spPr>
          <a:xfrm>
            <a:off x="9422463" y="2238796"/>
            <a:ext cx="2566219" cy="1323439"/>
          </a:xfrm>
          <a:custGeom>
            <a:avLst/>
            <a:gdLst>
              <a:gd name="connsiteX0" fmla="*/ 0 w 2566219"/>
              <a:gd name="connsiteY0" fmla="*/ 0 h 1323439"/>
              <a:gd name="connsiteX1" fmla="*/ 487582 w 2566219"/>
              <a:gd name="connsiteY1" fmla="*/ 0 h 1323439"/>
              <a:gd name="connsiteX2" fmla="*/ 949501 w 2566219"/>
              <a:gd name="connsiteY2" fmla="*/ 0 h 1323439"/>
              <a:gd name="connsiteX3" fmla="*/ 1488407 w 2566219"/>
              <a:gd name="connsiteY3" fmla="*/ 0 h 1323439"/>
              <a:gd name="connsiteX4" fmla="*/ 2027313 w 2566219"/>
              <a:gd name="connsiteY4" fmla="*/ 0 h 1323439"/>
              <a:gd name="connsiteX5" fmla="*/ 2566219 w 2566219"/>
              <a:gd name="connsiteY5" fmla="*/ 0 h 1323439"/>
              <a:gd name="connsiteX6" fmla="*/ 2566219 w 2566219"/>
              <a:gd name="connsiteY6" fmla="*/ 441146 h 1323439"/>
              <a:gd name="connsiteX7" fmla="*/ 2566219 w 2566219"/>
              <a:gd name="connsiteY7" fmla="*/ 842589 h 1323439"/>
              <a:gd name="connsiteX8" fmla="*/ 2566219 w 2566219"/>
              <a:gd name="connsiteY8" fmla="*/ 1323439 h 1323439"/>
              <a:gd name="connsiteX9" fmla="*/ 2078637 w 2566219"/>
              <a:gd name="connsiteY9" fmla="*/ 1323439 h 1323439"/>
              <a:gd name="connsiteX10" fmla="*/ 1642380 w 2566219"/>
              <a:gd name="connsiteY10" fmla="*/ 1323439 h 1323439"/>
              <a:gd name="connsiteX11" fmla="*/ 1154799 w 2566219"/>
              <a:gd name="connsiteY11" fmla="*/ 1323439 h 1323439"/>
              <a:gd name="connsiteX12" fmla="*/ 692879 w 2566219"/>
              <a:gd name="connsiteY12" fmla="*/ 1323439 h 1323439"/>
              <a:gd name="connsiteX13" fmla="*/ 0 w 2566219"/>
              <a:gd name="connsiteY13" fmla="*/ 1323439 h 1323439"/>
              <a:gd name="connsiteX14" fmla="*/ 0 w 2566219"/>
              <a:gd name="connsiteY14" fmla="*/ 855824 h 1323439"/>
              <a:gd name="connsiteX15" fmla="*/ 0 w 2566219"/>
              <a:gd name="connsiteY15" fmla="*/ 401443 h 1323439"/>
              <a:gd name="connsiteX16" fmla="*/ 0 w 2566219"/>
              <a:gd name="connsiteY16" fmla="*/ 0 h 13234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566219" h="1323439" fill="none" extrusionOk="0">
                <a:moveTo>
                  <a:pt x="0" y="0"/>
                </a:moveTo>
                <a:cubicBezTo>
                  <a:pt x="145072" y="-37560"/>
                  <a:pt x="252907" y="38020"/>
                  <a:pt x="487582" y="0"/>
                </a:cubicBezTo>
                <a:cubicBezTo>
                  <a:pt x="722257" y="-38020"/>
                  <a:pt x="745093" y="40241"/>
                  <a:pt x="949501" y="0"/>
                </a:cubicBezTo>
                <a:cubicBezTo>
                  <a:pt x="1153909" y="-40241"/>
                  <a:pt x="1308704" y="20193"/>
                  <a:pt x="1488407" y="0"/>
                </a:cubicBezTo>
                <a:cubicBezTo>
                  <a:pt x="1668110" y="-20193"/>
                  <a:pt x="1916874" y="26865"/>
                  <a:pt x="2027313" y="0"/>
                </a:cubicBezTo>
                <a:cubicBezTo>
                  <a:pt x="2137752" y="-26865"/>
                  <a:pt x="2385241" y="43447"/>
                  <a:pt x="2566219" y="0"/>
                </a:cubicBezTo>
                <a:cubicBezTo>
                  <a:pt x="2571362" y="201065"/>
                  <a:pt x="2530944" y="262874"/>
                  <a:pt x="2566219" y="441146"/>
                </a:cubicBezTo>
                <a:cubicBezTo>
                  <a:pt x="2601494" y="619418"/>
                  <a:pt x="2523859" y="683667"/>
                  <a:pt x="2566219" y="842589"/>
                </a:cubicBezTo>
                <a:cubicBezTo>
                  <a:pt x="2608579" y="1001511"/>
                  <a:pt x="2542574" y="1089496"/>
                  <a:pt x="2566219" y="1323439"/>
                </a:cubicBezTo>
                <a:cubicBezTo>
                  <a:pt x="2394442" y="1361259"/>
                  <a:pt x="2305248" y="1273105"/>
                  <a:pt x="2078637" y="1323439"/>
                </a:cubicBezTo>
                <a:cubicBezTo>
                  <a:pt x="1852026" y="1373773"/>
                  <a:pt x="1818246" y="1295801"/>
                  <a:pt x="1642380" y="1323439"/>
                </a:cubicBezTo>
                <a:cubicBezTo>
                  <a:pt x="1466514" y="1351077"/>
                  <a:pt x="1371582" y="1268732"/>
                  <a:pt x="1154799" y="1323439"/>
                </a:cubicBezTo>
                <a:cubicBezTo>
                  <a:pt x="938016" y="1378146"/>
                  <a:pt x="868274" y="1321617"/>
                  <a:pt x="692879" y="1323439"/>
                </a:cubicBezTo>
                <a:cubicBezTo>
                  <a:pt x="517484" y="1325261"/>
                  <a:pt x="238537" y="1323077"/>
                  <a:pt x="0" y="1323439"/>
                </a:cubicBezTo>
                <a:cubicBezTo>
                  <a:pt x="-22786" y="1191533"/>
                  <a:pt x="30772" y="1019793"/>
                  <a:pt x="0" y="855824"/>
                </a:cubicBezTo>
                <a:cubicBezTo>
                  <a:pt x="-30772" y="691855"/>
                  <a:pt x="51524" y="492465"/>
                  <a:pt x="0" y="401443"/>
                </a:cubicBezTo>
                <a:cubicBezTo>
                  <a:pt x="-51524" y="310421"/>
                  <a:pt x="1346" y="186026"/>
                  <a:pt x="0" y="0"/>
                </a:cubicBezTo>
                <a:close/>
              </a:path>
              <a:path w="2566219" h="1323439" stroke="0" extrusionOk="0">
                <a:moveTo>
                  <a:pt x="0" y="0"/>
                </a:moveTo>
                <a:cubicBezTo>
                  <a:pt x="139775" y="-12282"/>
                  <a:pt x="284309" y="17283"/>
                  <a:pt x="461919" y="0"/>
                </a:cubicBezTo>
                <a:cubicBezTo>
                  <a:pt x="639529" y="-17283"/>
                  <a:pt x="885833" y="26323"/>
                  <a:pt x="1026488" y="0"/>
                </a:cubicBezTo>
                <a:cubicBezTo>
                  <a:pt x="1167143" y="-26323"/>
                  <a:pt x="1286509" y="39357"/>
                  <a:pt x="1462745" y="0"/>
                </a:cubicBezTo>
                <a:cubicBezTo>
                  <a:pt x="1638981" y="-39357"/>
                  <a:pt x="1829288" y="39388"/>
                  <a:pt x="1950326" y="0"/>
                </a:cubicBezTo>
                <a:cubicBezTo>
                  <a:pt x="2071364" y="-39388"/>
                  <a:pt x="2392056" y="68034"/>
                  <a:pt x="2566219" y="0"/>
                </a:cubicBezTo>
                <a:cubicBezTo>
                  <a:pt x="2581003" y="216216"/>
                  <a:pt x="2531468" y="327075"/>
                  <a:pt x="2566219" y="454381"/>
                </a:cubicBezTo>
                <a:cubicBezTo>
                  <a:pt x="2600970" y="581687"/>
                  <a:pt x="2547210" y="690985"/>
                  <a:pt x="2566219" y="882293"/>
                </a:cubicBezTo>
                <a:cubicBezTo>
                  <a:pt x="2585228" y="1073601"/>
                  <a:pt x="2558491" y="1126065"/>
                  <a:pt x="2566219" y="1323439"/>
                </a:cubicBezTo>
                <a:cubicBezTo>
                  <a:pt x="2416725" y="1379678"/>
                  <a:pt x="2242570" y="1307210"/>
                  <a:pt x="2027313" y="1323439"/>
                </a:cubicBezTo>
                <a:cubicBezTo>
                  <a:pt x="1812056" y="1339668"/>
                  <a:pt x="1712924" y="1305032"/>
                  <a:pt x="1462745" y="1323439"/>
                </a:cubicBezTo>
                <a:cubicBezTo>
                  <a:pt x="1212566" y="1341846"/>
                  <a:pt x="1116367" y="1294699"/>
                  <a:pt x="949501" y="1323439"/>
                </a:cubicBezTo>
                <a:cubicBezTo>
                  <a:pt x="782635" y="1352179"/>
                  <a:pt x="591915" y="1313460"/>
                  <a:pt x="487582" y="1323439"/>
                </a:cubicBezTo>
                <a:cubicBezTo>
                  <a:pt x="383249" y="1333418"/>
                  <a:pt x="176203" y="1314203"/>
                  <a:pt x="0" y="1323439"/>
                </a:cubicBezTo>
                <a:cubicBezTo>
                  <a:pt x="-6698" y="1179565"/>
                  <a:pt x="44143" y="1088245"/>
                  <a:pt x="0" y="921996"/>
                </a:cubicBezTo>
                <a:cubicBezTo>
                  <a:pt x="-44143" y="755747"/>
                  <a:pt x="45050" y="648113"/>
                  <a:pt x="0" y="520553"/>
                </a:cubicBezTo>
                <a:cubicBezTo>
                  <a:pt x="-45050" y="392993"/>
                  <a:pt x="36521" y="139049"/>
                  <a:pt x="0" y="0"/>
                </a:cubicBezTo>
                <a:close/>
              </a:path>
            </a:pathLst>
          </a:custGeom>
          <a:ln w="38100">
            <a:extLst>
              <a:ext uri="{C807C97D-BFC1-408E-A445-0C87EB9F89A2}">
                <ask:lineSketchStyleProps xmlns:ask="http://schemas.microsoft.com/office/drawing/2018/sketchyshapes" sd="264609995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/>
              <a:t>Butoane</a:t>
            </a:r>
            <a:r>
              <a:rPr lang="en-US" sz="2000" dirty="0"/>
              <a:t> tip push-button pentru </a:t>
            </a:r>
            <a:r>
              <a:rPr lang="en-US" sz="2000" dirty="0" err="1"/>
              <a:t>accesarea</a:t>
            </a:r>
            <a:r>
              <a:rPr lang="en-US" sz="2000" dirty="0"/>
              <a:t> </a:t>
            </a:r>
            <a:r>
              <a:rPr lang="en-US" sz="2000" dirty="0" err="1"/>
              <a:t>diferitelor</a:t>
            </a:r>
            <a:r>
              <a:rPr lang="en-US" sz="2000" dirty="0"/>
              <a:t> fisiere din </a:t>
            </a:r>
            <a:r>
              <a:rPr lang="en-US" sz="2000" dirty="0" err="1"/>
              <a:t>proiect</a:t>
            </a:r>
            <a:endParaRPr lang="en-US" sz="2000" dirty="0"/>
          </a:p>
        </p:txBody>
      </p:sp>
      <p:pic>
        <p:nvPicPr>
          <p:cNvPr id="10" name="Picture 9" descr="A computer screen shot of a computer&#10;&#10;Description automatically generated">
            <a:extLst>
              <a:ext uri="{FF2B5EF4-FFF2-40B4-BE49-F238E27FC236}">
                <a16:creationId xmlns:a16="http://schemas.microsoft.com/office/drawing/2014/main" id="{B22A3FB8-D14B-F197-8791-AABC34842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0374"/>
            <a:ext cx="9068521" cy="570762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30025A-4B27-31BC-572B-A57408A3C187}"/>
              </a:ext>
            </a:extLst>
          </p:cNvPr>
          <p:cNvCxnSpPr>
            <a:cxnSpLocks/>
          </p:cNvCxnSpPr>
          <p:nvPr/>
        </p:nvCxnSpPr>
        <p:spPr>
          <a:xfrm flipV="1">
            <a:off x="1753302" y="2542868"/>
            <a:ext cx="7669161" cy="1772264"/>
          </a:xfrm>
          <a:prstGeom prst="straightConnector1">
            <a:avLst/>
          </a:prstGeom>
          <a:ln w="76200">
            <a:solidFill>
              <a:srgbClr val="EFE85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CD018F-0553-2A14-38B8-BE0629A3F66C}"/>
              </a:ext>
            </a:extLst>
          </p:cNvPr>
          <p:cNvCxnSpPr>
            <a:cxnSpLocks/>
          </p:cNvCxnSpPr>
          <p:nvPr/>
        </p:nvCxnSpPr>
        <p:spPr>
          <a:xfrm flipV="1">
            <a:off x="4719484" y="2841523"/>
            <a:ext cx="4460352" cy="1546122"/>
          </a:xfrm>
          <a:prstGeom prst="straightConnector1">
            <a:avLst/>
          </a:prstGeom>
          <a:ln w="76200">
            <a:solidFill>
              <a:srgbClr val="EFE85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3D78A55-9490-E9DE-9E69-26FCF84E50FA}"/>
              </a:ext>
            </a:extLst>
          </p:cNvPr>
          <p:cNvCxnSpPr/>
          <p:nvPr/>
        </p:nvCxnSpPr>
        <p:spPr>
          <a:xfrm flipV="1">
            <a:off x="7855974" y="3205316"/>
            <a:ext cx="1455174" cy="1182329"/>
          </a:xfrm>
          <a:prstGeom prst="straightConnector1">
            <a:avLst/>
          </a:prstGeom>
          <a:ln w="76200">
            <a:solidFill>
              <a:srgbClr val="EFE85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9FE682-A010-3270-387B-4DC4AC2967D1}"/>
              </a:ext>
            </a:extLst>
          </p:cNvPr>
          <p:cNvCxnSpPr>
            <a:cxnSpLocks/>
          </p:cNvCxnSpPr>
          <p:nvPr/>
        </p:nvCxnSpPr>
        <p:spPr>
          <a:xfrm flipV="1">
            <a:off x="3608439" y="2470355"/>
            <a:ext cx="5702709" cy="3802626"/>
          </a:xfrm>
          <a:prstGeom prst="straightConnector1">
            <a:avLst/>
          </a:prstGeom>
          <a:ln w="76200">
            <a:solidFill>
              <a:srgbClr val="EFE857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3590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63D389-7591-268B-9B02-5ADB9580A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525" y="1"/>
            <a:ext cx="5544189" cy="30982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1238BD-A78C-60EC-9CAA-48DFFA676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525" y="3098225"/>
            <a:ext cx="5042324" cy="3445134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CAA7CE-110B-F11B-278D-F397B4D03CC7}"/>
              </a:ext>
            </a:extLst>
          </p:cNvPr>
          <p:cNvCxnSpPr/>
          <p:nvPr/>
        </p:nvCxnSpPr>
        <p:spPr>
          <a:xfrm>
            <a:off x="4623982" y="3783600"/>
            <a:ext cx="2851355" cy="1450966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11F016-03A1-07A7-1E92-025EA0172D74}"/>
              </a:ext>
            </a:extLst>
          </p:cNvPr>
          <p:cNvSpPr txBox="1"/>
          <p:nvPr/>
        </p:nvSpPr>
        <p:spPr>
          <a:xfrm>
            <a:off x="997756" y="1145513"/>
            <a:ext cx="4021395" cy="461665"/>
          </a:xfrm>
          <a:custGeom>
            <a:avLst/>
            <a:gdLst>
              <a:gd name="connsiteX0" fmla="*/ 0 w 4021395"/>
              <a:gd name="connsiteY0" fmla="*/ 0 h 461665"/>
              <a:gd name="connsiteX1" fmla="*/ 453843 w 4021395"/>
              <a:gd name="connsiteY1" fmla="*/ 0 h 461665"/>
              <a:gd name="connsiteX2" fmla="*/ 1068542 w 4021395"/>
              <a:gd name="connsiteY2" fmla="*/ 0 h 461665"/>
              <a:gd name="connsiteX3" fmla="*/ 1723455 w 4021395"/>
              <a:gd name="connsiteY3" fmla="*/ 0 h 461665"/>
              <a:gd name="connsiteX4" fmla="*/ 2338154 w 4021395"/>
              <a:gd name="connsiteY4" fmla="*/ 0 h 461665"/>
              <a:gd name="connsiteX5" fmla="*/ 2872425 w 4021395"/>
              <a:gd name="connsiteY5" fmla="*/ 0 h 461665"/>
              <a:gd name="connsiteX6" fmla="*/ 3366482 w 4021395"/>
              <a:gd name="connsiteY6" fmla="*/ 0 h 461665"/>
              <a:gd name="connsiteX7" fmla="*/ 4021395 w 4021395"/>
              <a:gd name="connsiteY7" fmla="*/ 0 h 461665"/>
              <a:gd name="connsiteX8" fmla="*/ 4021395 w 4021395"/>
              <a:gd name="connsiteY8" fmla="*/ 461665 h 461665"/>
              <a:gd name="connsiteX9" fmla="*/ 3446910 w 4021395"/>
              <a:gd name="connsiteY9" fmla="*/ 461665 h 461665"/>
              <a:gd name="connsiteX10" fmla="*/ 2993067 w 4021395"/>
              <a:gd name="connsiteY10" fmla="*/ 461665 h 461665"/>
              <a:gd name="connsiteX11" fmla="*/ 2378368 w 4021395"/>
              <a:gd name="connsiteY11" fmla="*/ 461665 h 461665"/>
              <a:gd name="connsiteX12" fmla="*/ 1763669 w 4021395"/>
              <a:gd name="connsiteY12" fmla="*/ 461665 h 461665"/>
              <a:gd name="connsiteX13" fmla="*/ 1148970 w 4021395"/>
              <a:gd name="connsiteY13" fmla="*/ 461665 h 461665"/>
              <a:gd name="connsiteX14" fmla="*/ 574485 w 4021395"/>
              <a:gd name="connsiteY14" fmla="*/ 461665 h 461665"/>
              <a:gd name="connsiteX15" fmla="*/ 0 w 4021395"/>
              <a:gd name="connsiteY15" fmla="*/ 461665 h 461665"/>
              <a:gd name="connsiteX16" fmla="*/ 0 w 4021395"/>
              <a:gd name="connsiteY16" fmla="*/ 0 h 461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021395" h="461665" fill="none" extrusionOk="0">
                <a:moveTo>
                  <a:pt x="0" y="0"/>
                </a:moveTo>
                <a:cubicBezTo>
                  <a:pt x="182198" y="-48579"/>
                  <a:pt x="330698" y="17077"/>
                  <a:pt x="453843" y="0"/>
                </a:cubicBezTo>
                <a:cubicBezTo>
                  <a:pt x="576988" y="-17077"/>
                  <a:pt x="811540" y="16336"/>
                  <a:pt x="1068542" y="0"/>
                </a:cubicBezTo>
                <a:cubicBezTo>
                  <a:pt x="1325544" y="-16336"/>
                  <a:pt x="1523650" y="70132"/>
                  <a:pt x="1723455" y="0"/>
                </a:cubicBezTo>
                <a:cubicBezTo>
                  <a:pt x="1923260" y="-70132"/>
                  <a:pt x="2061657" y="16804"/>
                  <a:pt x="2338154" y="0"/>
                </a:cubicBezTo>
                <a:cubicBezTo>
                  <a:pt x="2614651" y="-16804"/>
                  <a:pt x="2611474" y="21927"/>
                  <a:pt x="2872425" y="0"/>
                </a:cubicBezTo>
                <a:cubicBezTo>
                  <a:pt x="3133376" y="-21927"/>
                  <a:pt x="3200602" y="29530"/>
                  <a:pt x="3366482" y="0"/>
                </a:cubicBezTo>
                <a:cubicBezTo>
                  <a:pt x="3532362" y="-29530"/>
                  <a:pt x="3715925" y="51157"/>
                  <a:pt x="4021395" y="0"/>
                </a:cubicBezTo>
                <a:cubicBezTo>
                  <a:pt x="4059879" y="185188"/>
                  <a:pt x="4010562" y="268037"/>
                  <a:pt x="4021395" y="461665"/>
                </a:cubicBezTo>
                <a:cubicBezTo>
                  <a:pt x="3748192" y="496811"/>
                  <a:pt x="3635592" y="398830"/>
                  <a:pt x="3446910" y="461665"/>
                </a:cubicBezTo>
                <a:cubicBezTo>
                  <a:pt x="3258228" y="524500"/>
                  <a:pt x="3165611" y="453532"/>
                  <a:pt x="2993067" y="461665"/>
                </a:cubicBezTo>
                <a:cubicBezTo>
                  <a:pt x="2820523" y="469798"/>
                  <a:pt x="2512794" y="398277"/>
                  <a:pt x="2378368" y="461665"/>
                </a:cubicBezTo>
                <a:cubicBezTo>
                  <a:pt x="2243942" y="525053"/>
                  <a:pt x="1978441" y="449267"/>
                  <a:pt x="1763669" y="461665"/>
                </a:cubicBezTo>
                <a:cubicBezTo>
                  <a:pt x="1548897" y="474063"/>
                  <a:pt x="1370828" y="428894"/>
                  <a:pt x="1148970" y="461665"/>
                </a:cubicBezTo>
                <a:cubicBezTo>
                  <a:pt x="927112" y="494436"/>
                  <a:pt x="818848" y="393613"/>
                  <a:pt x="574485" y="461665"/>
                </a:cubicBezTo>
                <a:cubicBezTo>
                  <a:pt x="330122" y="529717"/>
                  <a:pt x="163233" y="411829"/>
                  <a:pt x="0" y="461665"/>
                </a:cubicBezTo>
                <a:cubicBezTo>
                  <a:pt x="-52964" y="299024"/>
                  <a:pt x="18430" y="174295"/>
                  <a:pt x="0" y="0"/>
                </a:cubicBezTo>
                <a:close/>
              </a:path>
              <a:path w="4021395" h="461665" stroke="0" extrusionOk="0">
                <a:moveTo>
                  <a:pt x="0" y="0"/>
                </a:moveTo>
                <a:cubicBezTo>
                  <a:pt x="189145" y="-56111"/>
                  <a:pt x="357440" y="19111"/>
                  <a:pt x="534271" y="0"/>
                </a:cubicBezTo>
                <a:cubicBezTo>
                  <a:pt x="711102" y="-19111"/>
                  <a:pt x="905493" y="29222"/>
                  <a:pt x="1028328" y="0"/>
                </a:cubicBezTo>
                <a:cubicBezTo>
                  <a:pt x="1151163" y="-29222"/>
                  <a:pt x="1545207" y="42897"/>
                  <a:pt x="1683241" y="0"/>
                </a:cubicBezTo>
                <a:cubicBezTo>
                  <a:pt x="1821275" y="-42897"/>
                  <a:pt x="2025372" y="9235"/>
                  <a:pt x="2217512" y="0"/>
                </a:cubicBezTo>
                <a:cubicBezTo>
                  <a:pt x="2409652" y="-9235"/>
                  <a:pt x="2695862" y="37273"/>
                  <a:pt x="2872425" y="0"/>
                </a:cubicBezTo>
                <a:cubicBezTo>
                  <a:pt x="3048988" y="-37273"/>
                  <a:pt x="3312707" y="32720"/>
                  <a:pt x="3527338" y="0"/>
                </a:cubicBezTo>
                <a:cubicBezTo>
                  <a:pt x="3741969" y="-32720"/>
                  <a:pt x="3823134" y="32266"/>
                  <a:pt x="4021395" y="0"/>
                </a:cubicBezTo>
                <a:cubicBezTo>
                  <a:pt x="4075331" y="163328"/>
                  <a:pt x="3974574" y="352278"/>
                  <a:pt x="4021395" y="461665"/>
                </a:cubicBezTo>
                <a:cubicBezTo>
                  <a:pt x="3855717" y="489982"/>
                  <a:pt x="3663218" y="426998"/>
                  <a:pt x="3527338" y="461665"/>
                </a:cubicBezTo>
                <a:cubicBezTo>
                  <a:pt x="3391458" y="496332"/>
                  <a:pt x="3254149" y="456142"/>
                  <a:pt x="3033281" y="461665"/>
                </a:cubicBezTo>
                <a:cubicBezTo>
                  <a:pt x="2812413" y="467188"/>
                  <a:pt x="2733487" y="399182"/>
                  <a:pt x="2458796" y="461665"/>
                </a:cubicBezTo>
                <a:cubicBezTo>
                  <a:pt x="2184105" y="524148"/>
                  <a:pt x="2139226" y="454396"/>
                  <a:pt x="2004953" y="461665"/>
                </a:cubicBezTo>
                <a:cubicBezTo>
                  <a:pt x="1870680" y="468934"/>
                  <a:pt x="1657686" y="454082"/>
                  <a:pt x="1470682" y="461665"/>
                </a:cubicBezTo>
                <a:cubicBezTo>
                  <a:pt x="1283678" y="469248"/>
                  <a:pt x="1084062" y="458168"/>
                  <a:pt x="976624" y="461665"/>
                </a:cubicBezTo>
                <a:cubicBezTo>
                  <a:pt x="869186" y="465162"/>
                  <a:pt x="246695" y="440614"/>
                  <a:pt x="0" y="461665"/>
                </a:cubicBezTo>
                <a:cubicBezTo>
                  <a:pt x="-48727" y="303867"/>
                  <a:pt x="21384" y="127414"/>
                  <a:pt x="0" y="0"/>
                </a:cubicBezTo>
                <a:close/>
              </a:path>
            </a:pathLst>
          </a:custGeom>
          <a:ln>
            <a:prstDash val="solid"/>
            <a:extLst>
              <a:ext uri="{C807C97D-BFC1-408E-A445-0C87EB9F89A2}">
                <ask:lineSketchStyleProps xmlns:ask="http://schemas.microsoft.com/office/drawing/2018/sketchyshapes" sd="361646551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b="1" dirty="0" err="1">
                <a:latin typeface="Aptos Serif" panose="020B0502040204020203" pitchFamily="18" charset="0"/>
                <a:cs typeface="Aptos Serif" panose="020B0502040204020203" pitchFamily="18" charset="0"/>
              </a:rPr>
              <a:t>Butonul</a:t>
            </a:r>
            <a:r>
              <a:rPr lang="en-US" sz="2400" b="1" dirty="0">
                <a:latin typeface="Aptos Serif" panose="020B0502040204020203" pitchFamily="18" charset="0"/>
                <a:cs typeface="Aptos Serif" panose="020B0502040204020203" pitchFamily="18" charset="0"/>
              </a:rPr>
              <a:t> de </a:t>
            </a:r>
            <a:r>
              <a:rPr lang="en-US" sz="2400" b="1" dirty="0" err="1">
                <a:latin typeface="Aptos Serif" panose="020B0502040204020203" pitchFamily="18" charset="0"/>
                <a:cs typeface="Aptos Serif" panose="020B0502040204020203" pitchFamily="18" charset="0"/>
              </a:rPr>
              <a:t>documentatie</a:t>
            </a:r>
            <a:endParaRPr lang="en-US" sz="2400" b="1" dirty="0">
              <a:latin typeface="Aptos Serif" panose="020B0502040204020203" pitchFamily="18" charset="0"/>
              <a:cs typeface="Aptos Serif" panose="020B05020402040202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263B59-363B-DC12-09D3-6E060CC1F21A}"/>
              </a:ext>
            </a:extLst>
          </p:cNvPr>
          <p:cNvSpPr txBox="1"/>
          <p:nvPr/>
        </p:nvSpPr>
        <p:spPr>
          <a:xfrm>
            <a:off x="251153" y="5325493"/>
            <a:ext cx="44736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Prin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intermediul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acestui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buton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,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poți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accesa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documentația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completă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a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proiectului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,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inclusiv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prezentarea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și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bibliografia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asociată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174BB1-10EC-78BE-EDE0-71C9668774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025" y="2654304"/>
            <a:ext cx="6344535" cy="103837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4C29BE-C573-BE2E-36F5-B29F40383544}"/>
              </a:ext>
            </a:extLst>
          </p:cNvPr>
          <p:cNvCxnSpPr>
            <a:cxnSpLocks/>
          </p:cNvCxnSpPr>
          <p:nvPr/>
        </p:nvCxnSpPr>
        <p:spPr>
          <a:xfrm flipV="1">
            <a:off x="4623982" y="1262123"/>
            <a:ext cx="1862458" cy="1998903"/>
          </a:xfrm>
          <a:prstGeom prst="straightConnector1">
            <a:avLst/>
          </a:prstGeom>
          <a:ln w="57150"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3899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FDC3A0D-6503-088D-C8E3-BFCA073540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378" y="84166"/>
            <a:ext cx="10628831" cy="66896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839CC5A-A0E0-2088-ECED-6EB2A4379137}"/>
              </a:ext>
            </a:extLst>
          </p:cNvPr>
          <p:cNvSpPr txBox="1"/>
          <p:nvPr/>
        </p:nvSpPr>
        <p:spPr>
          <a:xfrm>
            <a:off x="3048000" y="5232316"/>
            <a:ext cx="3048000" cy="1200329"/>
          </a:xfrm>
          <a:prstGeom prst="rect">
            <a:avLst/>
          </a:prstGeom>
          <a:noFill/>
          <a:ln w="3810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Butoane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de tip push-button pentru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afisarea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graficelor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sau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pentru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închiderea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aplicației</a:t>
            </a:r>
            <a:endParaRPr lang="en-US" dirty="0">
              <a:latin typeface="Aptos Serif" panose="02020604070405020304" pitchFamily="18" charset="0"/>
              <a:cs typeface="Aptos Serif" panose="0202060407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798495-1DE3-44AC-0FC0-D07E0AED3101}"/>
              </a:ext>
            </a:extLst>
          </p:cNvPr>
          <p:cNvSpPr txBox="1"/>
          <p:nvPr/>
        </p:nvSpPr>
        <p:spPr>
          <a:xfrm>
            <a:off x="3657599" y="12003"/>
            <a:ext cx="2277195" cy="923330"/>
          </a:xfrm>
          <a:prstGeom prst="rect">
            <a:avLst/>
          </a:prstGeom>
          <a:solidFill>
            <a:schemeClr val="bg2"/>
          </a:solidFill>
          <a:ln w="2857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Butoane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text-edit pentru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introducerea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 </a:t>
            </a:r>
            <a:r>
              <a:rPr lang="en-US" dirty="0" err="1">
                <a:latin typeface="Aptos Serif" panose="02020604070405020304" pitchFamily="18" charset="0"/>
                <a:cs typeface="Aptos Serif" panose="02020604070405020304" pitchFamily="18" charset="0"/>
              </a:rPr>
              <a:t>valorilor</a:t>
            </a:r>
            <a:r>
              <a:rPr lang="en-US" dirty="0">
                <a:latin typeface="Aptos Serif" panose="02020604070405020304" pitchFamily="18" charset="0"/>
                <a:cs typeface="Aptos Serif" panose="02020604070405020304" pitchFamily="18" charset="0"/>
              </a:rPr>
              <a:t>.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898533E-062E-80F2-331A-777C5CC68FB3}"/>
              </a:ext>
            </a:extLst>
          </p:cNvPr>
          <p:cNvCxnSpPr>
            <a:cxnSpLocks/>
          </p:cNvCxnSpPr>
          <p:nvPr/>
        </p:nvCxnSpPr>
        <p:spPr>
          <a:xfrm flipH="1" flipV="1">
            <a:off x="5973016" y="5832480"/>
            <a:ext cx="4306529" cy="511278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A47B47-E2C4-68F0-5EAC-EB4ECB9F5199}"/>
              </a:ext>
            </a:extLst>
          </p:cNvPr>
          <p:cNvCxnSpPr>
            <a:cxnSpLocks/>
          </p:cNvCxnSpPr>
          <p:nvPr/>
        </p:nvCxnSpPr>
        <p:spPr>
          <a:xfrm>
            <a:off x="2546556" y="4326296"/>
            <a:ext cx="1789470" cy="817133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AC1F33-FEC0-2BE8-2313-43CB7533142D}"/>
              </a:ext>
            </a:extLst>
          </p:cNvPr>
          <p:cNvCxnSpPr>
            <a:cxnSpLocks/>
          </p:cNvCxnSpPr>
          <p:nvPr/>
        </p:nvCxnSpPr>
        <p:spPr>
          <a:xfrm flipH="1">
            <a:off x="4925961" y="4355690"/>
            <a:ext cx="1750142" cy="787739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5BD7E56-FE19-5EB1-2277-E049DE1FB74F}"/>
              </a:ext>
            </a:extLst>
          </p:cNvPr>
          <p:cNvCxnSpPr>
            <a:cxnSpLocks/>
          </p:cNvCxnSpPr>
          <p:nvPr/>
        </p:nvCxnSpPr>
        <p:spPr>
          <a:xfrm flipH="1" flipV="1">
            <a:off x="4994787" y="1031553"/>
            <a:ext cx="1425678" cy="698924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B08B715-C361-7ABB-E820-609C7752D1D8}"/>
              </a:ext>
            </a:extLst>
          </p:cNvPr>
          <p:cNvCxnSpPr>
            <a:cxnSpLocks/>
          </p:cNvCxnSpPr>
          <p:nvPr/>
        </p:nvCxnSpPr>
        <p:spPr>
          <a:xfrm flipH="1">
            <a:off x="2448232" y="1007496"/>
            <a:ext cx="2192594" cy="892195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01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903A2-F5BF-D790-40BA-A29662B99D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7"/>
          <a:stretch/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31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3CF24-E98B-C81E-3A36-318B0F1A83EC}"/>
              </a:ext>
            </a:extLst>
          </p:cNvPr>
          <p:cNvSpPr txBox="1"/>
          <p:nvPr/>
        </p:nvSpPr>
        <p:spPr>
          <a:xfrm>
            <a:off x="4654294" y="4777739"/>
            <a:ext cx="6897626" cy="13992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 err="1"/>
              <a:t>Reprezentarea</a:t>
            </a:r>
            <a:r>
              <a:rPr lang="en-US" sz="2200" dirty="0"/>
              <a:t> </a:t>
            </a:r>
            <a:r>
              <a:rPr lang="en-US" sz="2200" dirty="0" err="1"/>
              <a:t>grafică</a:t>
            </a:r>
            <a:r>
              <a:rPr lang="en-US" sz="2200" dirty="0"/>
              <a:t> a </a:t>
            </a:r>
            <a:r>
              <a:rPr lang="en-US" sz="2200" dirty="0" err="1"/>
              <a:t>câștigului</a:t>
            </a:r>
            <a:r>
              <a:rPr lang="en-US" sz="2200" dirty="0"/>
              <a:t> și </a:t>
            </a:r>
            <a:r>
              <a:rPr lang="en-US" sz="2200" dirty="0" err="1"/>
              <a:t>fazei</a:t>
            </a:r>
            <a:r>
              <a:rPr lang="en-US" sz="2200" dirty="0"/>
              <a:t> </a:t>
            </a:r>
            <a:r>
              <a:rPr lang="en-US" sz="2200" dirty="0" err="1"/>
              <a:t>în</a:t>
            </a:r>
            <a:r>
              <a:rPr lang="en-US" sz="2200" dirty="0"/>
              <a:t> </a:t>
            </a:r>
            <a:r>
              <a:rPr lang="en-US" sz="2200" dirty="0" err="1"/>
              <a:t>funcție</a:t>
            </a:r>
            <a:r>
              <a:rPr lang="en-US" sz="2200" dirty="0"/>
              <a:t> de </a:t>
            </a:r>
            <a:r>
              <a:rPr lang="en-US" sz="2200" dirty="0" err="1"/>
              <a:t>frecvență</a:t>
            </a:r>
            <a:r>
              <a:rPr lang="en-US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6596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B5093-C01E-D242-AEB8-86A1568548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761"/>
          <a:stretch/>
        </p:blipFill>
        <p:spPr>
          <a:xfrm>
            <a:off x="113174" y="952270"/>
            <a:ext cx="6512781" cy="4619044"/>
          </a:xfrm>
          <a:prstGeom prst="rect">
            <a:avLst/>
          </a:prstGeom>
        </p:spPr>
      </p:pic>
      <p:sp>
        <p:nvSpPr>
          <p:cNvPr id="29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9A192-0F2E-3CC4-EBA5-BEB99147A292}"/>
              </a:ext>
            </a:extLst>
          </p:cNvPr>
          <p:cNvSpPr txBox="1"/>
          <p:nvPr/>
        </p:nvSpPr>
        <p:spPr>
          <a:xfrm>
            <a:off x="6739128" y="2664886"/>
            <a:ext cx="4818888" cy="35507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Grafice pentru tensiunea de intrare si iesire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515AB82-1551-1320-1CD6-593115A54AB0}"/>
              </a:ext>
            </a:extLst>
          </p:cNvPr>
          <p:cNvCxnSpPr/>
          <p:nvPr/>
        </p:nvCxnSpPr>
        <p:spPr>
          <a:xfrm>
            <a:off x="5963478" y="3597965"/>
            <a:ext cx="2683565" cy="141135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DA02778-8B56-3FEF-B398-120A2BEEC31F}"/>
              </a:ext>
            </a:extLst>
          </p:cNvPr>
          <p:cNvSpPr txBox="1"/>
          <p:nvPr/>
        </p:nvSpPr>
        <p:spPr>
          <a:xfrm>
            <a:off x="8760216" y="4572000"/>
            <a:ext cx="1907915" cy="369332"/>
          </a:xfrm>
          <a:prstGeom prst="rect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D1B89D1-751C-7E68-9E1A-D227DB941C43}"/>
              </a:ext>
            </a:extLst>
          </p:cNvPr>
          <p:cNvSpPr/>
          <p:nvPr/>
        </p:nvSpPr>
        <p:spPr>
          <a:xfrm>
            <a:off x="8760216" y="4368248"/>
            <a:ext cx="2236305" cy="12821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Butoane</a:t>
            </a:r>
            <a:r>
              <a:rPr lang="en-US" dirty="0"/>
              <a:t> text-edit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introducerea</a:t>
            </a:r>
            <a:r>
              <a:rPr lang="en-US" dirty="0"/>
              <a:t> </a:t>
            </a:r>
            <a:r>
              <a:rPr lang="en-US" dirty="0" err="1"/>
              <a:t>valorilor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045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68EA0-7628-5F3B-E35E-6EBCC10BF5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US" sz="6600"/>
              <a:t>Multumesc pentru atentia acordata!</a:t>
            </a:r>
          </a:p>
        </p:txBody>
      </p:sp>
      <p:sp>
        <p:nvSpPr>
          <p:cNvPr id="31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652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85</Words>
  <Application>Microsoft Office PowerPoint</Application>
  <PresentationFormat>Widescreen</PresentationFormat>
  <Paragraphs>12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Aptos Serif</vt:lpstr>
      <vt:lpstr>Arial</vt:lpstr>
      <vt:lpstr>Office Theme</vt:lpstr>
      <vt:lpstr>CIRCUIT RL- FILTRU TRECE JOS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Multumesc pentru atentia acordata!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Bianca Varo</dc:creator>
  <cp:lastModifiedBy>Andreea Valentina Martin</cp:lastModifiedBy>
  <cp:revision>8</cp:revision>
  <dcterms:created xsi:type="dcterms:W3CDTF">2024-12-29T18:27:59Z</dcterms:created>
  <dcterms:modified xsi:type="dcterms:W3CDTF">2025-01-15T11:38:45Z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2024-12-29T19:41:06Z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753fcad2-c65c-4aeb-b5a2-10c57af4854b</vt:lpwstr>
  </property>
  <property fmtid="{D5CDD505-2E9C-101B-9397-08002B2CF9AE}" pid="8" name="MSIP_Label_5b58b62f-6f94-46bd-8089-18e64b0a9abb_ContentBits">
    <vt:lpwstr>0</vt:lpwstr>
  </property>
</Properties>
</file>